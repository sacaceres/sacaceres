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Figtree"/>
      <p:regular r:id="rId24"/>
      <p:bold r:id="rId25"/>
      <p:italic r:id="rId26"/>
      <p:boldItalic r:id="rId27"/>
    </p:embeddedFont>
    <p:embeddedFont>
      <p:font typeface="Oswald Medium"/>
      <p:regular r:id="rId28"/>
      <p:bold r:id="rId29"/>
    </p:embeddedFont>
    <p:embeddedFont>
      <p:font typeface="Figtree Light"/>
      <p:regular r:id="rId30"/>
      <p:bold r:id="rId31"/>
      <p:italic r:id="rId32"/>
      <p:boldItalic r:id="rId33"/>
    </p:embeddedFont>
    <p:embeddedFont>
      <p:font typeface="Jost"/>
      <p:regular r:id="rId34"/>
      <p:bold r:id="rId35"/>
      <p:italic r:id="rId36"/>
      <p:boldItalic r:id="rId37"/>
    </p:embeddedFont>
    <p:embeddedFont>
      <p:font typeface="Oswald Light"/>
      <p:regular r:id="rId38"/>
      <p:bold r:id="rId39"/>
    </p:embeddedFont>
    <p:embeddedFont>
      <p:font typeface="Oswald SemiBold"/>
      <p:regular r:id="rId40"/>
      <p:bold r:id="rId41"/>
    </p:embeddedFont>
    <p:embeddedFont>
      <p:font typeface="Oswal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hVeq4u9NY0mZGeA6orzrvazhS0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swaldSemiBold-regular.fntdata"/><Relationship Id="rId20" Type="http://schemas.openxmlformats.org/officeDocument/2006/relationships/slide" Target="slides/slide15.xml"/><Relationship Id="rId42" Type="http://schemas.openxmlformats.org/officeDocument/2006/relationships/font" Target="fonts/Oswald-regular.fntdata"/><Relationship Id="rId41" Type="http://schemas.openxmlformats.org/officeDocument/2006/relationships/font" Target="fonts/OswaldSemiBold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Oswald-bold.fntdata"/><Relationship Id="rId24" Type="http://schemas.openxmlformats.org/officeDocument/2006/relationships/font" Target="fonts/Figtree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-italic.fntdata"/><Relationship Id="rId25" Type="http://schemas.openxmlformats.org/officeDocument/2006/relationships/font" Target="fonts/Figtree-bold.fntdata"/><Relationship Id="rId28" Type="http://schemas.openxmlformats.org/officeDocument/2006/relationships/font" Target="fonts/OswaldMedium-regular.fntdata"/><Relationship Id="rId27" Type="http://schemas.openxmlformats.org/officeDocument/2006/relationships/font" Target="fonts/Figtre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Light-bold.fntdata"/><Relationship Id="rId30" Type="http://schemas.openxmlformats.org/officeDocument/2006/relationships/font" Target="fonts/FigtreeLight-regular.fntdata"/><Relationship Id="rId11" Type="http://schemas.openxmlformats.org/officeDocument/2006/relationships/slide" Target="slides/slide6.xml"/><Relationship Id="rId33" Type="http://schemas.openxmlformats.org/officeDocument/2006/relationships/font" Target="fonts/Figtree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FigtreeLight-italic.fntdata"/><Relationship Id="rId13" Type="http://schemas.openxmlformats.org/officeDocument/2006/relationships/slide" Target="slides/slide8.xml"/><Relationship Id="rId35" Type="http://schemas.openxmlformats.org/officeDocument/2006/relationships/font" Target="fonts/Jost-bold.fntdata"/><Relationship Id="rId12" Type="http://schemas.openxmlformats.org/officeDocument/2006/relationships/slide" Target="slides/slide7.xml"/><Relationship Id="rId34" Type="http://schemas.openxmlformats.org/officeDocument/2006/relationships/font" Target="fonts/Jost-regular.fntdata"/><Relationship Id="rId15" Type="http://schemas.openxmlformats.org/officeDocument/2006/relationships/slide" Target="slides/slide10.xml"/><Relationship Id="rId37" Type="http://schemas.openxmlformats.org/officeDocument/2006/relationships/font" Target="fonts/Jost-boldItalic.fntdata"/><Relationship Id="rId14" Type="http://schemas.openxmlformats.org/officeDocument/2006/relationships/slide" Target="slides/slide9.xml"/><Relationship Id="rId36" Type="http://schemas.openxmlformats.org/officeDocument/2006/relationships/font" Target="fonts/Jost-italic.fntdata"/><Relationship Id="rId17" Type="http://schemas.openxmlformats.org/officeDocument/2006/relationships/slide" Target="slides/slide12.xml"/><Relationship Id="rId39" Type="http://schemas.openxmlformats.org/officeDocument/2006/relationships/font" Target="fonts/OswaldLight-bold.fntdata"/><Relationship Id="rId16" Type="http://schemas.openxmlformats.org/officeDocument/2006/relationships/slide" Target="slides/slide11.xml"/><Relationship Id="rId38" Type="http://schemas.openxmlformats.org/officeDocument/2006/relationships/font" Target="fonts/OswaldLigh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sofia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sofia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8a0e85b0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8a0e85b0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sofia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sofia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9b7fdb09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d9b7fdb09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9b7fdb09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d9b7fdb09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9b7fdb09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d9b7fdb09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635cb3780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e635cb3780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635cb3780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e635cb3780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635cb3780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e635cb3780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635cb3780_0_20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e635cb3780_0_20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e635cb3780_0_2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635cb3780_0_2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g3e635cb3780_0_20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g3e635cb3780_0_2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635cb3780_0_20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e635cb3780_0_2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e635cb3780_0_2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e635cb3780_0_2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635cb3780_0_2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g3e635cb3780_0_2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g3e635cb3780_0_2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e635cb3780_0_2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e635cb3780_0_2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e635cb3780_0_2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e635cb3780_0_2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635cb3780_0_2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e635cb3780_0_2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635cb3780_0_2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e635cb3780_0_2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e635cb3780_0_2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e635cb3780_0_2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e635cb3780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635cb3780_0_2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e635cb3780_0_2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635cb3780_0_2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e635cb3780_0_2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e635cb3780_0_2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635cb3780_0_2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g3e635cb3780_0_2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3e635cb3780_0_243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3" name="Google Shape;53;g3e635cb3780_0_243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54" name="Google Shape;54;g3e635cb3780_0_243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g3e635cb3780_0_243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635cb3780_0_249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8" name="Google Shape;58;g3e635cb3780_0_249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9" name="Google Shape;59;g3e635cb3780_0_24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60" name="Google Shape;60;g3e635cb3780_0_24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61" name="Google Shape;61;g3e635cb3780_0_249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2" name="Google Shape;62;g3e635cb3780_0_249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g3e635cb3780_0_249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g3e635cb3780_0_249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65" name="Google Shape;65;g3e635cb3780_0_249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g3e635cb3780_0_249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g3e635cb3780_0_249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  <p:sp>
        <p:nvSpPr>
          <p:cNvPr id="68" name="Google Shape;68;g3e635cb3780_0_249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g3e635cb3780_0_249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" name="Google Shape;70;g3e635cb3780_0_249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635cb3780_0_264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73" name="Google Shape;73;g3e635cb3780_0_26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74" name="Google Shape;74;g3e635cb3780_0_26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75" name="Google Shape;75;g3e635cb3780_0_26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6" name="Google Shape;76;g3e635cb3780_0_264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77" name="Google Shape;77;g3e635cb3780_0_264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8" name="Google Shape;78;g3e635cb3780_0_264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79" name="Google Shape;79;g3e635cb3780_0_264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0" name="Google Shape;80;g3e635cb3780_0_264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1" name="Google Shape;81;g3e635cb3780_0_264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2" name="Google Shape;82;g3e635cb3780_0_264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3" name="Google Shape;83;g3e635cb3780_0_264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635cb3780_0_27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6" name="Google Shape;86;g3e635cb3780_0_277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7" name="Google Shape;87;g3e635cb3780_0_277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g3e635cb3780_0_277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9" name="Google Shape;89;g3e635cb3780_0_277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0" name="Google Shape;90;g3e635cb3780_0_277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1" name="Google Shape;91;g3e635cb3780_0_277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2" name="Google Shape;92;g3e635cb3780_0_277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3" name="Google Shape;93;g3e635cb3780_0_277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4" name="Google Shape;94;g3e635cb3780_0_277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5" name="Google Shape;95;g3e635cb3780_0_277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6" name="Google Shape;96;g3e635cb3780_0_277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7" name="Google Shape;97;g3e635cb3780_0_277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8" name="Google Shape;98;g3e635cb3780_0_277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g3e635cb3780_0_277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0" name="Google Shape;100;g3e635cb3780_0_277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1" name="Google Shape;101;g3e635cb3780_0_277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635cb3780_0_1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e635cb3780_0_1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e635cb3780_0_1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sahityasahu/amazon-review-dataset/data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>
            <p:ph idx="4294967295" type="title"/>
          </p:nvPr>
        </p:nvSpPr>
        <p:spPr>
          <a:xfrm>
            <a:off x="347600" y="353572"/>
            <a:ext cx="8278500" cy="28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6000">
                <a:latin typeface="Oswald SemiBold"/>
                <a:ea typeface="Oswald SemiBold"/>
                <a:cs typeface="Oswald SemiBold"/>
                <a:sym typeface="Oswald SemiBold"/>
              </a:rPr>
              <a:t>From Feedback to Insight:Understanding                 </a:t>
            </a:r>
            <a:endParaRPr sz="6000"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t/>
            </a:r>
            <a:endParaRPr sz="6000"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t/>
            </a:r>
            <a:endParaRPr sz="60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7" name="Google Shape;107;p1"/>
          <p:cNvSpPr txBox="1"/>
          <p:nvPr>
            <p:ph idx="4294967295" type="subTitle"/>
          </p:nvPr>
        </p:nvSpPr>
        <p:spPr>
          <a:xfrm>
            <a:off x="347600" y="4055350"/>
            <a:ext cx="87258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Sofia Caceres</a:t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3408350" y="1886725"/>
            <a:ext cx="5336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Reviews </a:t>
            </a:r>
            <a:endParaRPr b="0" i="0" sz="6000" u="none" cap="none" strike="noStrike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290225" y="2609229"/>
            <a:ext cx="5818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through Text</a:t>
            </a:r>
            <a:endParaRPr b="0" i="0" sz="6000" u="none" cap="none" strike="noStrike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descr="Amazon Logo PNG Transparent &amp; SVG Vector - Freebie Supply" id="110" name="Google Shape;11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225" y="1995775"/>
            <a:ext cx="3118126" cy="93995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8460000" dist="76200">
              <a:srgbClr val="000000">
                <a:alpha val="67843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689700" y="262950"/>
            <a:ext cx="7764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100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Our Dataset:</a:t>
            </a:r>
            <a:endParaRPr sz="21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Real-world Amazon customer data</a:t>
            </a:r>
            <a:endParaRPr sz="2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Char char="●"/>
            </a:pPr>
            <a:r>
              <a:rPr lang="en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6.4 million reviews</a:t>
            </a:r>
            <a:endParaRPr sz="2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Char char="●"/>
            </a:pPr>
            <a:r>
              <a:rPr lang="en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Star ratings + review text</a:t>
            </a:r>
            <a:endParaRPr sz="2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(</a:t>
            </a:r>
            <a:r>
              <a:rPr lang="en" sz="21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https://www.kaggle.com/datasets/sahityasahu/amazon-review-dataset/data</a:t>
            </a:r>
            <a:endParaRPr sz="2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1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 </a:t>
            </a:r>
            <a:endParaRPr sz="21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1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1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689747" y="2199459"/>
            <a:ext cx="7764513" cy="2576629"/>
            <a:chOff x="1427575" y="1895475"/>
            <a:chExt cx="7668655" cy="2544819"/>
          </a:xfrm>
        </p:grpSpPr>
        <p:pic>
          <p:nvPicPr>
            <p:cNvPr id="117" name="Google Shape;117;p2" title="Screenshot 2026-04-21 at 3.17.21 PM.png"/>
            <p:cNvPicPr preferRelativeResize="0"/>
            <p:nvPr/>
          </p:nvPicPr>
          <p:blipFill rotWithShape="1">
            <a:blip r:embed="rId4">
              <a:alphaModFix/>
            </a:blip>
            <a:srcRect b="0" l="39239" r="0" t="0"/>
            <a:stretch/>
          </p:blipFill>
          <p:spPr>
            <a:xfrm>
              <a:off x="3359260" y="1895483"/>
              <a:ext cx="5736970" cy="2544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2" title="Screenshot 2026-04-21 at 3.17.21 PM.png"/>
            <p:cNvPicPr preferRelativeResize="0"/>
            <p:nvPr/>
          </p:nvPicPr>
          <p:blipFill rotWithShape="1">
            <a:blip r:embed="rId4">
              <a:alphaModFix/>
            </a:blip>
            <a:srcRect b="0" l="-589" r="79464" t="0"/>
            <a:stretch/>
          </p:blipFill>
          <p:spPr>
            <a:xfrm>
              <a:off x="1427575" y="1895475"/>
              <a:ext cx="1931699" cy="2464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8a0e85b02_0_11"/>
          <p:cNvSpPr txBox="1"/>
          <p:nvPr>
            <p:ph idx="4294967295" type="subTitle"/>
          </p:nvPr>
        </p:nvSpPr>
        <p:spPr>
          <a:xfrm>
            <a:off x="571625" y="574525"/>
            <a:ext cx="49845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Summary: Call a Taxi</a:t>
            </a:r>
            <a:endParaRPr b="0" i="0" sz="21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Overall: </a:t>
            </a:r>
            <a:endParaRPr b="0" i="0" sz="21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Review: Zero stars. Don't work. I request a ride all kind of ways and it put my request to my shopping list. What a joke. Called a cab</a:t>
            </a:r>
            <a:endParaRPr b="0" i="0" sz="21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-Glenn Smith</a:t>
            </a:r>
            <a:endParaRPr b="0" i="0" sz="21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24;g3d8a0e85b02_0_11"/>
          <p:cNvSpPr txBox="1"/>
          <p:nvPr>
            <p:ph idx="4294967295" type="subTitle"/>
          </p:nvPr>
        </p:nvSpPr>
        <p:spPr>
          <a:xfrm>
            <a:off x="3362037" y="2665825"/>
            <a:ext cx="49845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Summary:Garbage</a:t>
            </a:r>
            <a:endParaRPr b="0" i="0" sz="21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Overall: </a:t>
            </a:r>
            <a:endParaRPr b="0" i="0" sz="21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Review: You'd think Amazon would do a little research on how horrible AccuWeather is but clearsell outs happen every day.</a:t>
            </a:r>
            <a:endParaRPr b="0" i="0" sz="21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-Amazon Customer</a:t>
            </a:r>
            <a:endParaRPr b="0" i="0" sz="21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5" name="Google Shape;125;g3d8a0e85b02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9362" y="3094600"/>
            <a:ext cx="1346751" cy="2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d8a0e85b02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504" y="990357"/>
            <a:ext cx="1346751" cy="2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" title="distributionsPrett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236" y="265075"/>
            <a:ext cx="7567539" cy="461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idx="1" type="body"/>
          </p:nvPr>
        </p:nvSpPr>
        <p:spPr>
          <a:xfrm>
            <a:off x="683450" y="630975"/>
            <a:ext cx="73428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4600">
                <a:solidFill>
                  <a:srgbClr val="FF9A02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Target Audience:</a:t>
            </a:r>
            <a:r>
              <a:rPr lang="en" sz="390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Business and product teams looking to </a:t>
            </a:r>
            <a:r>
              <a:rPr b="1" lang="en" sz="4000" u="sng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improve their products</a:t>
            </a:r>
            <a:r>
              <a:rPr lang="en"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based on customer reviews and </a:t>
            </a:r>
            <a:r>
              <a:rPr b="1" lang="en" sz="4000" u="sng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identify what customers love</a:t>
            </a:r>
            <a:r>
              <a:rPr lang="en"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most to guide marketing strategies</a:t>
            </a:r>
            <a:endParaRPr sz="4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/>
        </p:nvSpPr>
        <p:spPr>
          <a:xfrm>
            <a:off x="1134900" y="1033450"/>
            <a:ext cx="6874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" sz="4600" u="none" cap="none" strike="noStrike">
                <a:solidFill>
                  <a:srgbClr val="FF9A02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Research Question:</a:t>
            </a:r>
            <a:r>
              <a:rPr b="0" i="0" lang="en" sz="3900" u="none" cap="none" strike="noStrike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endParaRPr b="0" i="0" sz="4000" u="none" cap="none" strike="noStrike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rPr b="0" i="0" lang="en" sz="4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What words and language patterns are most associated with low-rated versus high-rated Amazon reviews?</a:t>
            </a:r>
            <a:endParaRPr b="0" i="0" sz="4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564350" y="228611"/>
            <a:ext cx="85206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" sz="3500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CHTC</a:t>
            </a:r>
            <a:endParaRPr sz="35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 sz="35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675450" y="1006400"/>
            <a:ext cx="23421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60000" y="2238575"/>
            <a:ext cx="1743000" cy="1257000"/>
          </a:xfrm>
          <a:prstGeom prst="rect">
            <a:avLst/>
          </a:prstGeom>
          <a:solidFill>
            <a:srgbClr val="F4CCCC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6.4 million reviews</a:t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(36.85 GB)</a:t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49" name="Google Shape;149;p6"/>
          <p:cNvCxnSpPr/>
          <p:nvPr/>
        </p:nvCxnSpPr>
        <p:spPr>
          <a:xfrm>
            <a:off x="2003000" y="2863475"/>
            <a:ext cx="857400" cy="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p6"/>
          <p:cNvSpPr/>
          <p:nvPr/>
        </p:nvSpPr>
        <p:spPr>
          <a:xfrm>
            <a:off x="2921900" y="47520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921900" y="2943925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467075" y="827875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2921900" y="827875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2921900" y="470730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921900" y="188590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467075" y="47520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444513" y="2238575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921900" y="118055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921900" y="4001938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921900" y="1533213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467075" y="118055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467075" y="1533213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921900" y="259125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921900" y="2238575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921900" y="4354625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921900" y="329660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467075" y="188590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921900" y="3649275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444513" y="2943925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444525" y="329660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444525" y="3649275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444513" y="259125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031925" y="2238575"/>
            <a:ext cx="1849800" cy="12570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26 parallel jobs</a:t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~250,000 reviews each</a:t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74" name="Google Shape;174;p6"/>
          <p:cNvCxnSpPr>
            <a:endCxn id="175" idx="1"/>
          </p:cNvCxnSpPr>
          <p:nvPr/>
        </p:nvCxnSpPr>
        <p:spPr>
          <a:xfrm>
            <a:off x="5881600" y="2864975"/>
            <a:ext cx="945900" cy="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6"/>
          <p:cNvSpPr/>
          <p:nvPr/>
        </p:nvSpPr>
        <p:spPr>
          <a:xfrm>
            <a:off x="3444525" y="400195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444525" y="4354625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444525" y="4707300"/>
            <a:ext cx="397800" cy="2019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827500" y="2238575"/>
            <a:ext cx="1849800" cy="1257000"/>
          </a:xfrm>
          <a:prstGeom prst="rect">
            <a:avLst/>
          </a:prstGeom>
          <a:solidFill>
            <a:srgbClr val="D9EAD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Word Count csv</a:t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500,000 rows</a:t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675450" y="1798600"/>
            <a:ext cx="8574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7323700" y="1798600"/>
            <a:ext cx="8574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4395950" y="1586500"/>
            <a:ext cx="8574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Word Counts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d9b7fdb095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4600" y="1005825"/>
            <a:ext cx="6314798" cy="390052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d9b7fdb095_0_57"/>
          <p:cNvSpPr txBox="1"/>
          <p:nvPr>
            <p:ph type="title"/>
          </p:nvPr>
        </p:nvSpPr>
        <p:spPr>
          <a:xfrm>
            <a:off x="564350" y="228611"/>
            <a:ext cx="85206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" sz="3500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Word Counts</a:t>
            </a:r>
            <a:endParaRPr sz="35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 sz="35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d9b7fdb095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150" y="905850"/>
            <a:ext cx="6361452" cy="39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d9b7fdb095_0_65"/>
          <p:cNvSpPr txBox="1"/>
          <p:nvPr>
            <p:ph type="title"/>
          </p:nvPr>
        </p:nvSpPr>
        <p:spPr>
          <a:xfrm>
            <a:off x="564350" y="228611"/>
            <a:ext cx="85206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" sz="3500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Word Counts</a:t>
            </a:r>
            <a:endParaRPr sz="35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 sz="35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9b7fdb095_0_4"/>
          <p:cNvSpPr txBox="1"/>
          <p:nvPr>
            <p:ph type="title"/>
          </p:nvPr>
        </p:nvSpPr>
        <p:spPr>
          <a:xfrm>
            <a:off x="564350" y="228611"/>
            <a:ext cx="85206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" sz="3500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Data Cleaning</a:t>
            </a:r>
            <a:endParaRPr sz="35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99" name="Google Shape;199;g3d9b7fdb095_0_4"/>
          <p:cNvSpPr txBox="1"/>
          <p:nvPr/>
        </p:nvSpPr>
        <p:spPr>
          <a:xfrm>
            <a:off x="675450" y="1282200"/>
            <a:ext cx="7793100" cy="3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Extracted reviewText field from the Amazon review JSON data</a:t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FIltered reviews into two groups:</a:t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Char char="○"/>
            </a:pPr>
            <a:r>
              <a:rPr b="0" i="0" lang="en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Low rated: 1-2 stars</a:t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Char char="○"/>
            </a:pPr>
            <a:r>
              <a:rPr b="0" i="0" lang="en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High rated: 4-5 stars </a:t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Removed 3-star reviews (neutral)</a:t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Removed punctuation and tokenized text into individual words</a:t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Removed blank entries</a:t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Removed common words such as “the”, “and”, “is”, and “to”</a:t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Computed word frequencies for low and high rated reviews separately</a:t>
            </a:r>
            <a:endParaRPr b="0" i="0" sz="2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>
            <p:ph idx="4294967295" type="title"/>
          </p:nvPr>
        </p:nvSpPr>
        <p:spPr>
          <a:xfrm>
            <a:off x="482450" y="359825"/>
            <a:ext cx="85206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4600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Our Models</a:t>
            </a:r>
            <a:endParaRPr sz="46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205" name="Google Shape;205;p7"/>
          <p:cNvSpPr txBox="1"/>
          <p:nvPr>
            <p:ph idx="4294967295" type="body"/>
          </p:nvPr>
        </p:nvSpPr>
        <p:spPr>
          <a:xfrm>
            <a:off x="4367825" y="1446000"/>
            <a:ext cx="3963600" cy="16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X = Binary Word indicators from the top 100 most common words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y = High-Rated, Low-Rated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6" name="Google Shape;206;p7"/>
          <p:cNvSpPr txBox="1"/>
          <p:nvPr>
            <p:ph idx="4294967295" type="body"/>
          </p:nvPr>
        </p:nvSpPr>
        <p:spPr>
          <a:xfrm>
            <a:off x="654600" y="1446011"/>
            <a:ext cx="4020600" cy="22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swald"/>
              <a:buAutoNum type="arabicPeriod"/>
            </a:pPr>
            <a:r>
              <a:rPr lang="en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Logistic Regression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25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swald"/>
              <a:buAutoNum type="arabicPeriod"/>
            </a:pPr>
            <a:r>
              <a:rPr lang="en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Random Forest 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/>
        </p:nvSpPr>
        <p:spPr>
          <a:xfrm>
            <a:off x="2720550" y="171221"/>
            <a:ext cx="37029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n" sz="3600" u="none" cap="none" strike="noStrike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Logistic Regression</a:t>
            </a:r>
            <a:endParaRPr b="0" i="0" sz="3600" u="none" cap="none" strike="noStrike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3">
            <a:alphaModFix/>
          </a:blip>
          <a:srcRect b="7218" l="0" r="0" t="0"/>
          <a:stretch/>
        </p:blipFill>
        <p:spPr>
          <a:xfrm>
            <a:off x="1264375" y="866250"/>
            <a:ext cx="6615276" cy="37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1500" y="4648200"/>
            <a:ext cx="754450" cy="1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635cb3780_0_301"/>
          <p:cNvSpPr txBox="1"/>
          <p:nvPr/>
        </p:nvSpPr>
        <p:spPr>
          <a:xfrm>
            <a:off x="3166650" y="194200"/>
            <a:ext cx="28107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n" sz="3600" u="none" cap="none" strike="noStrike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Random Forest</a:t>
            </a:r>
            <a:endParaRPr b="0" i="0" sz="3600" u="none" cap="none" strike="noStrike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219" name="Google Shape;219;g3e635cb3780_0_3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200" y="869627"/>
            <a:ext cx="6611601" cy="40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635cb3780_0_307"/>
          <p:cNvSpPr txBox="1"/>
          <p:nvPr/>
        </p:nvSpPr>
        <p:spPr>
          <a:xfrm>
            <a:off x="3607650" y="159775"/>
            <a:ext cx="19287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n" sz="3600" u="none" cap="none" strike="noStrike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Accuracy</a:t>
            </a:r>
            <a:endParaRPr b="0" i="0" sz="3600" u="none" cap="none" strike="noStrike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225" name="Google Shape;225;g3e635cb3780_0_3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200" y="869627"/>
            <a:ext cx="6611601" cy="403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e635cb3780_0_3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6199" y="869612"/>
            <a:ext cx="6611601" cy="403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>
            <p:ph idx="4294967295" type="title"/>
          </p:nvPr>
        </p:nvSpPr>
        <p:spPr>
          <a:xfrm>
            <a:off x="572184" y="1181885"/>
            <a:ext cx="66348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3300">
                <a:latin typeface="Oswald Light"/>
                <a:ea typeface="Oswald Light"/>
                <a:cs typeface="Oswald Light"/>
                <a:sym typeface="Oswald Light"/>
              </a:rPr>
              <a:t>High-rated reviews had clear and consistent language patterns, with terms like “excellent”, “perfect”, and “love” strongly tied to positive customer experiences</a:t>
            </a:r>
            <a:endParaRPr sz="3300"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480375" y="277575"/>
            <a:ext cx="630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Results and Conlusions</a:t>
            </a:r>
            <a:endParaRPr b="0" i="0" sz="4200" u="none" cap="none" strike="noStrike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233" name="Google Shape;233;p12"/>
          <p:cNvSpPr txBox="1"/>
          <p:nvPr>
            <p:ph idx="4294967295" type="title"/>
          </p:nvPr>
        </p:nvSpPr>
        <p:spPr>
          <a:xfrm>
            <a:off x="572176" y="3248275"/>
            <a:ext cx="67839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3300">
                <a:latin typeface="Oswald Light"/>
                <a:ea typeface="Oswald Light"/>
                <a:cs typeface="Oswald Light"/>
                <a:sym typeface="Oswald Light"/>
              </a:rPr>
              <a:t>Negative Reviews commonly mention malfunctions (doesn’t, work, off)</a:t>
            </a:r>
            <a:endParaRPr sz="3300"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>
            <p:ph idx="4294967295" type="body"/>
          </p:nvPr>
        </p:nvSpPr>
        <p:spPr>
          <a:xfrm>
            <a:off x="443401" y="1547525"/>
            <a:ext cx="70620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"/>
              <a:buChar char="●"/>
            </a:pPr>
            <a:r>
              <a:rPr lang="en"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dataset was imbalanced with more high-rated reviews than low-rated reviews</a:t>
            </a:r>
            <a:endParaRPr sz="2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"/>
              <a:buChar char="●"/>
            </a:pPr>
            <a:r>
              <a:rPr lang="en"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model uses individual words, so they lost phrases like “doesn’t work” or “don’t buy”</a:t>
            </a:r>
            <a:endParaRPr sz="2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"/>
              <a:buChar char="●"/>
            </a:pPr>
            <a:r>
              <a:rPr lang="en"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Some words were hard to interpret because the model could not tell how they were being used in a sentence.</a:t>
            </a:r>
            <a:endParaRPr sz="2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sz="23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9" name="Google Shape;239;p13"/>
          <p:cNvSpPr txBox="1"/>
          <p:nvPr>
            <p:ph type="title"/>
          </p:nvPr>
        </p:nvSpPr>
        <p:spPr>
          <a:xfrm>
            <a:off x="6234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5600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Challenges</a:t>
            </a:r>
            <a:endParaRPr sz="56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/>
          <p:nvPr>
            <p:ph idx="4294967295" type="body"/>
          </p:nvPr>
        </p:nvSpPr>
        <p:spPr>
          <a:xfrm>
            <a:off x="443400" y="1597000"/>
            <a:ext cx="6729000" cy="30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swald"/>
              <a:buChar char="●"/>
            </a:pPr>
            <a:r>
              <a:rPr lang="en" sz="2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Using two word phrases to capture clearer patterns </a:t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937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swald"/>
              <a:buChar char="○"/>
            </a:pPr>
            <a:r>
              <a:rPr lang="en" sz="2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Better measure of customer opinion</a:t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Use a more balanced dataset</a:t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5" name="Google Shape;245;p14"/>
          <p:cNvSpPr txBox="1"/>
          <p:nvPr>
            <p:ph type="title"/>
          </p:nvPr>
        </p:nvSpPr>
        <p:spPr>
          <a:xfrm>
            <a:off x="443400" y="617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4900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Future Considerations</a:t>
            </a:r>
            <a:endParaRPr sz="49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635cb3780_0_316"/>
          <p:cNvSpPr txBox="1"/>
          <p:nvPr>
            <p:ph type="title"/>
          </p:nvPr>
        </p:nvSpPr>
        <p:spPr>
          <a:xfrm>
            <a:off x="1052489" y="1973775"/>
            <a:ext cx="73833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5700">
                <a:solidFill>
                  <a:srgbClr val="FF9A02"/>
                </a:solidFill>
                <a:latin typeface="Oswald Medium"/>
                <a:ea typeface="Oswald Medium"/>
                <a:cs typeface="Oswald Medium"/>
                <a:sym typeface="Oswald Medium"/>
              </a:rPr>
              <a:t>Thank you for listening!</a:t>
            </a:r>
            <a:endParaRPr sz="5700">
              <a:solidFill>
                <a:srgbClr val="FF9A0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